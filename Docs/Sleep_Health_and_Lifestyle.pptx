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Lustria" panose="020B0604020202020204" charset="0"/>
      <p:regular r:id="rId14"/>
    </p:embeddedFont>
    <p:embeddedFont>
      <p:font typeface="Tahoma" panose="020B060403050404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bFh9GFhOXcwZEBrp8e4q+Tuys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202892" y="1732449"/>
            <a:ext cx="5064665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7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379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7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48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2"/>
          </p:nvPr>
        </p:nvSpPr>
        <p:spPr>
          <a:xfrm>
            <a:off x="1005872" y="2380137"/>
            <a:ext cx="4876344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3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4"/>
          </p:nvPr>
        </p:nvSpPr>
        <p:spPr>
          <a:xfrm>
            <a:off x="6294967" y="2380137"/>
            <a:ext cx="4895330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4855633" y="609600"/>
            <a:ext cx="6411924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2"/>
          </p:nvPr>
        </p:nvSpPr>
        <p:spPr>
          <a:xfrm>
            <a:off x="913795" y="2431518"/>
            <a:ext cx="3706889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1" descr="Slate-V2-HD-vert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>
            <a:spLocks noGrp="1"/>
          </p:cNvSpPr>
          <p:nvPr>
            <p:ph type="pic" idx="2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6078"/>
              </a:srgbClr>
            </a:outerShdw>
          </a:effectLst>
        </p:spPr>
      </p:sp>
      <p:sp>
        <p:nvSpPr>
          <p:cNvPr id="71" name="Google Shape;71;p21"/>
          <p:cNvSpPr txBox="1">
            <a:spLocks noGrp="1"/>
          </p:cNvSpPr>
          <p:nvPr>
            <p:ph type="body" idx="1"/>
          </p:nvPr>
        </p:nvSpPr>
        <p:spPr>
          <a:xfrm>
            <a:off x="913795" y="2439261"/>
            <a:ext cx="5934949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panoramica con didascalia">
  <p:cSld name="Immagine panoramica con didascalia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2" descr="Slate-V2-HD-pano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>
            <a:spLocks noGrp="1"/>
          </p:cNvSpPr>
          <p:nvPr>
            <p:ph type="pic" idx="2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6078"/>
              </a:srgbClr>
            </a:outerShdw>
          </a:effectLst>
        </p:spPr>
      </p:sp>
      <p:sp>
        <p:nvSpPr>
          <p:cNvPr id="79" name="Google Shape;79;p22"/>
          <p:cNvSpPr txBox="1">
            <a:spLocks noGrp="1"/>
          </p:cNvSpPr>
          <p:nvPr>
            <p:ph type="body" idx="1"/>
          </p:nvPr>
        </p:nvSpPr>
        <p:spPr>
          <a:xfrm>
            <a:off x="913795" y="5108728"/>
            <a:ext cx="1035376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sottotitolo">
  <p:cSld name="Titolo e sottotitolo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body" idx="1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zione con didascalia">
  <p:cSld name="Citazione con didascalia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2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sp>
        <p:nvSpPr>
          <p:cNvPr id="96" name="Google Shape;96;p24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4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da nome">
  <p:cSld name="Scheda nom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onne">
  <p:cSld name="3 colonn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2"/>
          </p:nvPr>
        </p:nvSpPr>
        <p:spPr>
          <a:xfrm>
            <a:off x="91379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3"/>
          </p:nvPr>
        </p:nvSpPr>
        <p:spPr>
          <a:xfrm>
            <a:off x="4446711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4"/>
          </p:nvPr>
        </p:nvSpPr>
        <p:spPr>
          <a:xfrm>
            <a:off x="444143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5"/>
          </p:nvPr>
        </p:nvSpPr>
        <p:spPr>
          <a:xfrm>
            <a:off x="7966572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body" idx="6"/>
          </p:nvPr>
        </p:nvSpPr>
        <p:spPr>
          <a:xfrm>
            <a:off x="7966572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2" name="Google Shape;112;p2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onne immagine">
  <p:cSld name="3 colonne immagin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7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7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27"/>
          <p:cNvSpPr>
            <a:spLocks noGrp="1"/>
          </p:cNvSpPr>
          <p:nvPr>
            <p:ph type="pic" idx="2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6078"/>
              </a:srgbClr>
            </a:outerShdw>
          </a:effectLst>
        </p:spPr>
      </p:sp>
      <p:sp>
        <p:nvSpPr>
          <p:cNvPr id="122" name="Google Shape;122;p27"/>
          <p:cNvSpPr txBox="1">
            <a:spLocks noGrp="1"/>
          </p:cNvSpPr>
          <p:nvPr>
            <p:ph type="body" idx="3"/>
          </p:nvPr>
        </p:nvSpPr>
        <p:spPr>
          <a:xfrm>
            <a:off x="913795" y="4480368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4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27"/>
          <p:cNvSpPr>
            <a:spLocks noGrp="1"/>
          </p:cNvSpPr>
          <p:nvPr>
            <p:ph type="pic" idx="5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6078"/>
              </a:srgbClr>
            </a:outerShdw>
          </a:effectLst>
        </p:spPr>
      </p:sp>
      <p:sp>
        <p:nvSpPr>
          <p:cNvPr id="125" name="Google Shape;125;p27"/>
          <p:cNvSpPr txBox="1">
            <a:spLocks noGrp="1"/>
          </p:cNvSpPr>
          <p:nvPr>
            <p:ph type="body" idx="6"/>
          </p:nvPr>
        </p:nvSpPr>
        <p:spPr>
          <a:xfrm>
            <a:off x="4441435" y="4480367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body" idx="7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27"/>
          <p:cNvSpPr>
            <a:spLocks noGrp="1"/>
          </p:cNvSpPr>
          <p:nvPr>
            <p:ph type="pic" idx="8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6078"/>
              </a:srgbClr>
            </a:outerShdw>
          </a:effectLst>
        </p:spPr>
      </p:sp>
      <p:sp>
        <p:nvSpPr>
          <p:cNvPr id="128" name="Google Shape;128;p27"/>
          <p:cNvSpPr txBox="1">
            <a:spLocks noGrp="1"/>
          </p:cNvSpPr>
          <p:nvPr>
            <p:ph type="body" idx="9"/>
          </p:nvPr>
        </p:nvSpPr>
        <p:spPr>
          <a:xfrm>
            <a:off x="7966572" y="4480365"/>
            <a:ext cx="3300984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body" idx="1"/>
          </p:nvPr>
        </p:nvSpPr>
        <p:spPr>
          <a:xfrm rot="5400000">
            <a:off x="4061301" y="-1415056"/>
            <a:ext cx="4058751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>
            <a:spLocks noGrp="1"/>
          </p:cNvSpPr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sz="2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3086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sz="16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2908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2908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2908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3200400" marR="0" lvl="6" indent="-2908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3657600" marR="0" lvl="7" indent="-2908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4114800" marR="0" lvl="8" indent="-29083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Tahoma"/>
              <a:buNone/>
            </a:pPr>
            <a:r>
              <a:rPr lang="en-US" sz="3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Unsupervised Analysis of the Sleep Health and Lifestyle Dataset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5015750" y="3598350"/>
            <a:ext cx="2130000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0EE"/>
              </a:buClr>
              <a:buSzPts val="1500"/>
              <a:buFont typeface="Tahoma"/>
              <a:buNone/>
            </a:pPr>
            <a:r>
              <a:rPr lang="en-US" sz="1500" b="0" i="0" u="none" strike="noStrike" cap="none" dirty="0">
                <a:solidFill>
                  <a:srgbClr val="E8F0EE"/>
                </a:solidFill>
                <a:latin typeface="Calibri"/>
                <a:ea typeface="Calibri"/>
                <a:cs typeface="Calibri"/>
                <a:sym typeface="Calibri"/>
              </a:rPr>
              <a:t> Del Gaudio Kevin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0EE"/>
              </a:buClr>
              <a:buSzPts val="1500"/>
              <a:buFont typeface="Tahoma"/>
              <a:buNone/>
            </a:pPr>
            <a:r>
              <a:rPr lang="en-US" sz="1500" b="0" i="0" u="none" strike="noStrike" cap="none" dirty="0">
                <a:solidFill>
                  <a:srgbClr val="E8F0E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 b="0" i="0" u="none" strike="noStrike" cap="none" dirty="0">
              <a:solidFill>
                <a:srgbClr val="E8F0E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8F0EE"/>
                </a:solidFill>
                <a:latin typeface="Calibri"/>
                <a:ea typeface="Calibri"/>
                <a:cs typeface="Calibri"/>
                <a:sym typeface="Calibri"/>
              </a:rPr>
              <a:t>Iseni Angelica</a:t>
            </a:r>
            <a:endParaRPr sz="1500" b="0" i="0" u="none" strike="noStrike" cap="none" dirty="0">
              <a:solidFill>
                <a:srgbClr val="E8F0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/>
          <p:nvPr/>
        </p:nvSpPr>
        <p:spPr>
          <a:xfrm>
            <a:off x="6420468" y="5344946"/>
            <a:ext cx="3667429" cy="90345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6420468" y="4123780"/>
            <a:ext cx="3667429" cy="89251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2014135" y="4542261"/>
            <a:ext cx="3757397" cy="116120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ahoma"/>
              <a:buNone/>
            </a:pPr>
            <a:r>
              <a:rPr lang="en-US"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Does the data organise itself into groups, without ever seeing the diagnosis?</a:t>
            </a:r>
            <a:endParaRPr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>
            <a:spLocks noGrp="1"/>
          </p:cNvSpPr>
          <p:nvPr>
            <p:ph type="body" idx="1"/>
          </p:nvPr>
        </p:nvSpPr>
        <p:spPr>
          <a:xfrm>
            <a:off x="717755" y="1818968"/>
            <a:ext cx="10726993" cy="112087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10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Most existing work trains a model to predict a diagnosis from fixed features. This project takes a different route: the Sleep Disorder label is withheld from every clustering algorithm until the very end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2558734" y="2939845"/>
            <a:ext cx="7362014" cy="59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groups emerge on their own, do they relate to a diagnosis the algorithm never saw?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2421082" y="3085428"/>
            <a:ext cx="678426" cy="3086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F2F2"/>
          </a:solidFill>
          <a:ln w="15875" cap="rnd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2104103" y="4837156"/>
            <a:ext cx="344424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374 synthetic records, 13 attributes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(Kaggle Sleep Health &amp; Lifestyle Dataset)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6571431" y="4333872"/>
            <a:ext cx="344424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Demographics, behaviour, physiology, sleep metrics only are seen by Clustering</a:t>
            </a:r>
            <a:endParaRPr sz="13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6456563" y="5460711"/>
            <a:ext cx="3595237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Sleep Disorder label held out till evaluation for Clustering, but kept as a node in the Bayesian Net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7213947" y="5882639"/>
            <a:ext cx="25789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ahoma"/>
              <a:buNone/>
            </a:pPr>
            <a:r>
              <a:rPr lang="en-US" sz="12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  Insomnia   Sleep Apnea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"/>
          <p:cNvCxnSpPr/>
          <p:nvPr/>
        </p:nvCxnSpPr>
        <p:spPr>
          <a:xfrm rot="10800000" flipH="1">
            <a:off x="5771534" y="4542261"/>
            <a:ext cx="648900" cy="612300"/>
          </a:xfrm>
          <a:prstGeom prst="straightConnector1">
            <a:avLst/>
          </a:prstGeom>
          <a:noFill/>
          <a:ln w="9525" cap="rnd" cmpd="sng">
            <a:solidFill>
              <a:srgbClr val="F2F2F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" name="Google Shape;167;p2"/>
          <p:cNvCxnSpPr/>
          <p:nvPr/>
        </p:nvCxnSpPr>
        <p:spPr>
          <a:xfrm>
            <a:off x="5771534" y="5154561"/>
            <a:ext cx="648900" cy="612300"/>
          </a:xfrm>
          <a:prstGeom prst="straightConnector1">
            <a:avLst/>
          </a:prstGeom>
          <a:noFill/>
          <a:ln w="9525" cap="rnd" cmpd="sng">
            <a:solidFill>
              <a:srgbClr val="F2F2F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ahoma"/>
              <a:buNone/>
            </a:pPr>
            <a:r>
              <a:rPr lang="en-US"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a messy synthetic table to 21 clean features</a:t>
            </a:r>
            <a:endParaRPr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3"/>
          <p:cNvGrpSpPr/>
          <p:nvPr/>
        </p:nvGrpSpPr>
        <p:grpSpPr>
          <a:xfrm>
            <a:off x="640080" y="1965960"/>
            <a:ext cx="3611880" cy="3314700"/>
            <a:chOff x="640080" y="1965960"/>
            <a:chExt cx="3611880" cy="3314700"/>
          </a:xfrm>
        </p:grpSpPr>
        <p:sp>
          <p:nvSpPr>
            <p:cNvPr id="174" name="Google Shape;174;p3"/>
            <p:cNvSpPr/>
            <p:nvPr/>
          </p:nvSpPr>
          <p:spPr>
            <a:xfrm>
              <a:off x="777240" y="196596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ahoma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Encoding</a:t>
              </a: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640080" y="2171700"/>
              <a:ext cx="3611880" cy="3108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Char char="•"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Blood Pressure string → Systolic / Diastolic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342900" algn="l" rtl="0">
                <a:lnSpc>
                  <a:spcPct val="13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Char char="•"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Occupation (11 levels) → one-hot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342900" algn="l" rtl="0">
                <a:lnSpc>
                  <a:spcPct val="13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Char char="•"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BMI Category → ordinal 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342900" algn="l" rtl="0">
                <a:lnSpc>
                  <a:spcPct val="13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Char char="•"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Sleep Disorder NaNs → explicit “None” (MNAR)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4428217" y="1989705"/>
            <a:ext cx="3840480" cy="2569463"/>
            <a:chOff x="4617720" y="1965960"/>
            <a:chExt cx="3840480" cy="2569463"/>
          </a:xfrm>
        </p:grpSpPr>
        <p:sp>
          <p:nvSpPr>
            <p:cNvPr id="177" name="Google Shape;177;p3"/>
            <p:cNvSpPr/>
            <p:nvPr/>
          </p:nvSpPr>
          <p:spPr>
            <a:xfrm>
              <a:off x="4617720" y="196596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Redundant Variables &amp; Outliers</a:t>
              </a: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4663440" y="3017521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 Grubbs (univariate) ∩ LOF (multivariate)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4663439" y="3456307"/>
              <a:ext cx="3306147" cy="622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  Only 2 points confirmed by both: removed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4663440" y="2410098"/>
              <a:ext cx="3154680" cy="5442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 Diastolic dropped: ρ = 1.0 with Systolic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5303520" y="4123942"/>
              <a:ext cx="3154680" cy="4114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372 of 374 observations kept</a:t>
              </a:r>
              <a:endParaRPr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4846320" y="4230061"/>
              <a:ext cx="412413" cy="19924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158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83" name="Google Shape;183;p3"/>
          <p:cNvSpPr/>
          <p:nvPr/>
        </p:nvSpPr>
        <p:spPr>
          <a:xfrm>
            <a:off x="8239214" y="196596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Scaling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8358372" y="3530517"/>
            <a:ext cx="412413" cy="1992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58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8840675" y="3424723"/>
            <a:ext cx="280416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MinMaxScaler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8239214" y="2286256"/>
            <a:ext cx="3154680" cy="90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Necessity to preserve 0/1 one-hot columns as-is and to keep features comparable for Euclidean distance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640080" y="1877961"/>
            <a:ext cx="3449436" cy="3402699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4365958" y="1877960"/>
            <a:ext cx="3449436" cy="3402699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8091836" y="1877960"/>
            <a:ext cx="3449436" cy="3402699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/>
          <p:nvPr/>
        </p:nvSpPr>
        <p:spPr>
          <a:xfrm>
            <a:off x="6459794" y="1891235"/>
            <a:ext cx="4965290" cy="363449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ahoma"/>
              <a:buNone/>
            </a:pPr>
            <a:r>
              <a:rPr lang="en-US" sz="3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 configurations, judged on what they agree and disagree about</a:t>
            </a:r>
            <a:br>
              <a:rPr lang="en-US" sz="2600">
                <a:latin typeface="Tahoma"/>
                <a:ea typeface="Tahoma"/>
                <a:cs typeface="Tahoma"/>
                <a:sym typeface="Tahoma"/>
              </a:rPr>
            </a:br>
            <a:endParaRPr sz="26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548640" y="1891235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clustering methods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548640" y="2148840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Hierarchical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(Complete &amp; Ward linkage)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(random &amp; k-means++ init, 50 restarts)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DBSCAN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(density-based, flags noise)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548640" y="37947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×  2 feature spaces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48640" y="42062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2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-dimensional space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PCA-reduced, 8 components (≥ 90% variance)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7921850" y="1978745"/>
            <a:ext cx="207853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Model-selection criteria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568721" y="23774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ahoma"/>
              <a:buChar char="•"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silhouette s(i) 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tracked with WSS/BSS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ahoma"/>
              <a:buChar char="•"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(post-hoc only): </a:t>
            </a: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ARI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V-measure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purity 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vs. the withheld label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6564999" y="3950172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ahoma"/>
              <a:buChar char="•"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Coverage constraint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DBSCAN scores only on assigned points, not comparable if points are left as noise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ahoma"/>
              <a:buChar char="•"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Balance constraint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reject silhouette gains from near-singleton clusters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6734115" y="3510536"/>
            <a:ext cx="4416648" cy="54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Structural Constraints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Applied at final selection, after both rankings are built, not during scoring</a:t>
            </a:r>
            <a:endParaRPr sz="11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5" descr="/home/claude/figs/fig3_pca_disord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691640"/>
            <a:ext cx="5394960" cy="44165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ahoma"/>
              <a:buNone/>
            </a:pPr>
            <a:r>
              <a:rPr lang="en-US"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non trivial result: the diagnostic classes overlap</a:t>
            </a:r>
            <a:endParaRPr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537960" y="2442547"/>
            <a:ext cx="4800600" cy="37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the projection shows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811789" y="2930014"/>
            <a:ext cx="4800600" cy="217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two components capture only 46.8% of total variance (27.1% + 19.7%)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None, Insomnia and Sleep Apnea overlap heavily rather than forming clean regions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expected and important: were the classes cleanly separated, clustering would merely reproduce the labels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48640" y="614476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Tahoma"/>
              <a:buNone/>
            </a:pPr>
            <a:r>
              <a:rPr lang="en-US" sz="95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1: PCA projection of the full feature space, coloured by Sleep Disorder</a:t>
            </a:r>
            <a:r>
              <a:rPr lang="en-US" sz="950" b="0" i="1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617110" y="2320412"/>
            <a:ext cx="4916129" cy="2910349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ahoma"/>
              <a:buNone/>
            </a:pPr>
            <a:r>
              <a:rPr lang="en-US" sz="3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Choosing Ward on PCA: the highest external score isn't the winner</a:t>
            </a:r>
            <a:br>
              <a:rPr lang="en-US"/>
            </a:br>
            <a:endParaRPr/>
          </a:p>
        </p:txBody>
      </p:sp>
      <p:pic>
        <p:nvPicPr>
          <p:cNvPr id="219" name="Google Shape;219;p6" descr="/home/claude/figs/fig5_dendrogr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54480"/>
            <a:ext cx="5039032" cy="211314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/>
          <p:nvPr/>
        </p:nvSpPr>
        <p:spPr>
          <a:xfrm>
            <a:off x="339213" y="366762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Tahoma"/>
              <a:buNone/>
            </a:pPr>
            <a:r>
              <a:rPr lang="en-US" sz="95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2: Ward dendrogram, cut at k = 11. Balanced branches, no fragmentation</a:t>
            </a:r>
            <a:endParaRPr sz="9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6" descr="/home/claude/figs/fig4_wss_silhouette.png"/>
          <p:cNvPicPr preferRelativeResize="0"/>
          <p:nvPr/>
        </p:nvPicPr>
        <p:blipFill rotWithShape="1">
          <a:blip r:embed="rId4">
            <a:alphaModFix/>
          </a:blip>
          <a:srcRect l="50234"/>
          <a:stretch/>
        </p:blipFill>
        <p:spPr>
          <a:xfrm>
            <a:off x="5952827" y="1576999"/>
            <a:ext cx="2662084" cy="1499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6" descr="/home/claude/figs/fig4_wss_silhouette.png"/>
          <p:cNvPicPr preferRelativeResize="0"/>
          <p:nvPr/>
        </p:nvPicPr>
        <p:blipFill rotWithShape="1">
          <a:blip r:embed="rId4">
            <a:alphaModFix/>
          </a:blip>
          <a:srcRect r="49765"/>
          <a:stretch/>
        </p:blipFill>
        <p:spPr>
          <a:xfrm>
            <a:off x="8960137" y="1589574"/>
            <a:ext cx="2687156" cy="149961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/>
          <p:nvPr/>
        </p:nvSpPr>
        <p:spPr>
          <a:xfrm>
            <a:off x="5841968" y="3190378"/>
            <a:ext cx="580532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Tahoma"/>
              <a:buNone/>
            </a:pPr>
            <a:r>
              <a:rPr lang="en-US" sz="95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3:  WSS/BSS and silhouette across k = 1–15 (Ward, full space)</a:t>
            </a:r>
            <a:endParaRPr sz="9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6" descr="/home/claude/figs/fig6_similarity_matrix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44871" y="3624181"/>
            <a:ext cx="2599517" cy="234721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/>
          <p:nvPr/>
        </p:nvSpPr>
        <p:spPr>
          <a:xfrm>
            <a:off x="7411065" y="6085156"/>
            <a:ext cx="289265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Tahoma"/>
              <a:buNone/>
            </a:pPr>
            <a:r>
              <a:rPr lang="en-US" sz="95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4: Sorted similarity matrix (Ward, k=11): clean diagonal blocks</a:t>
            </a:r>
            <a:endParaRPr sz="9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339213" y="4226284"/>
            <a:ext cx="480305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not the configuration with the top external score?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339213" y="4360788"/>
            <a:ext cx="6513871" cy="1839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Ward–PCA leads internally (silhouette 0.770) with clean, balanced clusters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603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None/>
            </a:pPr>
            <a:endParaRPr sz="13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Complete linkage (PCA) has the highest external score (ARI 0.224) but the worst internal geometry of any full-coverage method (silhouette 0.59); DBSCAN (ARI 0.183) scores second-best but leaves 21% of subjects as noise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1187869" y="6199835"/>
            <a:ext cx="60960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Ward is the best trade-off , not the top single number on either ranking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57200" y="6227608"/>
            <a:ext cx="613570" cy="2085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ahoma"/>
              <a:buNone/>
            </a:pPr>
            <a:r>
              <a:rPr lang="en-US" sz="3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Bayesian Network:</a:t>
            </a:r>
            <a:r>
              <a:rPr lang="en-US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physiological chain emerges</a:t>
            </a:r>
            <a:br>
              <a:rPr lang="en-US"/>
            </a:b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47368" y="6465699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Tahoma"/>
              <a:buNone/>
            </a:pPr>
            <a:r>
              <a:rPr lang="en-US" sz="95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5: DAG learned by Hill Climbing (BIC score): 34 edges, 2 isolated nodes</a:t>
            </a:r>
            <a:endParaRPr sz="9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7" descr="/home/claude/figs/fig11_hc_dag.png"/>
          <p:cNvPicPr preferRelativeResize="0"/>
          <p:nvPr/>
        </p:nvPicPr>
        <p:blipFill rotWithShape="1">
          <a:blip r:embed="rId3">
            <a:alphaModFix/>
          </a:blip>
          <a:srcRect l="3116" t="7069" r="4242" b="4211"/>
          <a:stretch/>
        </p:blipFill>
        <p:spPr>
          <a:xfrm>
            <a:off x="252689" y="1580050"/>
            <a:ext cx="6666271" cy="4885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7172632" y="1501395"/>
            <a:ext cx="4572000" cy="1520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Hill Climbing 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None/>
            </a:pPr>
            <a:endParaRPr sz="1300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edge survives only if its gain outweighs its complexity cost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34 of 462 possible edges retained; only 2 occupation columns end up isolated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327490" y="3594927"/>
            <a:ext cx="4572000" cy="1520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What structure emerged?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None/>
            </a:pPr>
            <a:endParaRPr sz="1300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Systolic Pressure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Stress Level 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emerge as hubs</a:t>
            </a:r>
            <a:endParaRPr/>
          </a:p>
          <a:p>
            <a:pPr marL="285750" marR="0" lvl="0" indent="-203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coherent physiological chain: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BMI Category → Quality of Sleep → Sleep Duration → Stress Level → Heart Rate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7510370" y="5688459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Sleep Disorder is peripheral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just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parent 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(Occupation_Nurse) and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children 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(Occupation_Teacher, Systolic Pressure)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7482348" y="5688459"/>
            <a:ext cx="4262284" cy="777240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733449" y="3315903"/>
            <a:ext cx="4423941" cy="139762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51352" y="1567765"/>
            <a:ext cx="4423941" cy="146525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ahoma"/>
              <a:buNone/>
            </a:pPr>
            <a:r>
              <a:rPr lang="en-US" sz="3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Markov blanket alone doesn't tell the whole story</a:t>
            </a:r>
            <a:br>
              <a:rPr lang="en-US"/>
            </a:b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48640" y="1691639"/>
            <a:ext cx="5577840" cy="2300257"/>
          </a:xfrm>
          <a:prstGeom prst="roundRect">
            <a:avLst>
              <a:gd name="adj" fmla="val 4651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48722" y="157730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blanket is small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51352" y="1705424"/>
            <a:ext cx="438813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MB(Sleep Disorder)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the </a:t>
            </a: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3 neighbours from before</a:t>
            </a: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Occupation_Nurse, Systolic Pressure, Occupation_Teacher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Neither Stress Level nor Quality of Sleep belongs to 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8" descr="/home/claude/figs/fig12_inferenc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110" y="2224827"/>
            <a:ext cx="521208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6585276" y="566274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Tahoma"/>
              <a:buNone/>
            </a:pPr>
            <a:r>
              <a:rPr lang="en-US" sz="95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6: Approximate (10²–10⁵ samples) vs. exact inference for P(Sleep Disorder | Stress=high, Quality=low). Bars 0/1/2 = None/Apnea/Insomnia.</a:t>
            </a:r>
            <a:endParaRPr sz="9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759626" y="3657209"/>
            <a:ext cx="44157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Stress=high, Quality=low → None 58% · Apnea 21% · Insomnia 21%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Stress=low, Quality=high → None 46% · Apnea 37% · Insomnia 18%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1785053" y="3355611"/>
            <a:ext cx="2320732" cy="294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exact inference disagrees</a:t>
            </a:r>
            <a:endParaRPr sz="13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1373196" y="5755636"/>
            <a:ext cx="5212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open path: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Sleep Disorder → Systolic Pressure → Stress Level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, unblocked, since Systolic isn't observed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1347019" y="5143500"/>
            <a:ext cx="404707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blanket only guarantees independence once the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WHOLE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blanket is observed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33449" y="5280698"/>
            <a:ext cx="613570" cy="2085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59626" y="5865136"/>
            <a:ext cx="613570" cy="2085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7372348" y="1737322"/>
            <a:ext cx="3637936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the exact computation itself reliable?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ahoma"/>
              <a:buNone/>
            </a:pPr>
            <a:r>
              <a:rPr lang="en-US"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Bayesian Network: how much of this structure is Hill Climbing's own artefact?</a:t>
            </a:r>
            <a:endParaRPr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9" descr="/home/claude/figs/fig13_pc_dag.png"/>
          <p:cNvPicPr preferRelativeResize="0"/>
          <p:nvPr/>
        </p:nvPicPr>
        <p:blipFill rotWithShape="1">
          <a:blip r:embed="rId3">
            <a:alphaModFix/>
          </a:blip>
          <a:srcRect l="2964" t="7290" r="2887" b="5096"/>
          <a:stretch/>
        </p:blipFill>
        <p:spPr>
          <a:xfrm>
            <a:off x="333313" y="1622421"/>
            <a:ext cx="6666271" cy="488564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/>
          <p:nvPr/>
        </p:nvSpPr>
        <p:spPr>
          <a:xfrm>
            <a:off x="447368" y="650807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Tahoma"/>
              <a:buNone/>
            </a:pPr>
            <a:r>
              <a:rPr lang="en-US" sz="95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 7 :  DAG learned by the PC algorithm (χ² tests, α = 0.05): 15 edges, 6 isolated nodes</a:t>
            </a:r>
            <a:r>
              <a:rPr lang="en-US" sz="950" b="0" i="1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5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162800" y="1754077"/>
            <a:ext cx="4572000" cy="1520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PC is far more conservative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homa"/>
              <a:buNone/>
            </a:pPr>
            <a:endParaRPr sz="1300" b="1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Hill Climbing starts from an empty graph and </a:t>
            </a:r>
            <a:r>
              <a:rPr lang="en-US" sz="13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adds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 edge if it improves the score;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PC starts from a fully connected graph and </a:t>
            </a:r>
            <a:r>
              <a:rPr lang="en-US" sz="13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removes</a:t>
            </a: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 edge unless a χ² test proves it's needed;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500538" y="573083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edges around Sleep Disorder are a hypothesis suggested only by </a:t>
            </a: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Hill Climbing 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7345680" y="3756127"/>
            <a:ext cx="4389120" cy="149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Only 3 edges agree, direction included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Daily Steps → Physical Activity Level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Occupation_Engineer → Occupation_Lawyer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Sleep Duration → Stress Level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7472516" y="5730830"/>
            <a:ext cx="4262284" cy="777240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1005108" y="4522734"/>
            <a:ext cx="10343368" cy="90437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005108" y="3274824"/>
            <a:ext cx="10343368" cy="90437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005108" y="2075835"/>
            <a:ext cx="10343368" cy="90437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4F1D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ahoma"/>
              <a:buNone/>
            </a:pPr>
            <a:r>
              <a:rPr lang="en-US"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33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32876" y="1970237"/>
            <a:ext cx="1051560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112520" y="1993687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3769604" y="1946787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Agreement with Sleep Disorder is well above chance (Ward–PCA: ARI 0.14), recovered without ever seeing the label</a:t>
            </a:r>
            <a:endParaRPr sz="13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32876" y="4364674"/>
            <a:ext cx="1051560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112520" y="4374408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843524" y="3146126"/>
            <a:ext cx="10515600" cy="2142682"/>
            <a:chOff x="838200" y="2971800"/>
            <a:chExt cx="10515600" cy="2142682"/>
          </a:xfrm>
        </p:grpSpPr>
        <p:sp>
          <p:nvSpPr>
            <p:cNvPr id="285" name="Google Shape;285;p10"/>
            <p:cNvSpPr/>
            <p:nvPr/>
          </p:nvSpPr>
          <p:spPr>
            <a:xfrm>
              <a:off x="838200" y="2971800"/>
              <a:ext cx="10515600" cy="91440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112520" y="2971800"/>
              <a:ext cx="256032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ahoma"/>
                <a:buNone/>
              </a:pPr>
              <a:r>
                <a:rPr lang="en-US" sz="13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Bayesian Network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3764280" y="2971800"/>
              <a:ext cx="74066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BMI → Sleep Quality → Duration → Stress → Heart Rate; diagnosis is linked only indirectly. </a:t>
              </a:r>
              <a:r>
                <a:rPr lang="en-US" sz="13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Agreement with a stricter test (PC) is weak</a:t>
              </a:r>
              <a:endPara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3667516" y="4200082"/>
              <a:ext cx="74066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ahoma"/>
                <a:buNone/>
              </a:pPr>
              <a:r>
                <a:rPr lang="en-US" sz="13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Validate on real clinical data; inject domain knowledge (e.g. root nodes); combine cluster labels into the network as an added variable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10"/>
          <p:cNvSpPr txBox="1"/>
          <p:nvPr/>
        </p:nvSpPr>
        <p:spPr>
          <a:xfrm>
            <a:off x="843525" y="5817292"/>
            <a:ext cx="10515599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BFD9D0"/>
                </a:solidFill>
                <a:latin typeface="Calibri"/>
                <a:ea typeface="Calibri"/>
                <a:cs typeface="Calibri"/>
                <a:sym typeface="Calibri"/>
              </a:rPr>
              <a:t>Limitations: the dataset is synthetic; no method fully recovered the three diagnostic categories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</a:pPr>
            <a:r>
              <a:rPr lang="en-US"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</a:t>
            </a:r>
            <a:r>
              <a:rPr lang="en-US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lang="en-US"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your attention!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esia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</Words>
  <Application>Microsoft Office PowerPoint</Application>
  <PresentationFormat>Widescreen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Noto Sans Symbols</vt:lpstr>
      <vt:lpstr>Tahoma</vt:lpstr>
      <vt:lpstr>Lustria</vt:lpstr>
      <vt:lpstr>Arial</vt:lpstr>
      <vt:lpstr>Calibri</vt:lpstr>
      <vt:lpstr>Ardesia</vt:lpstr>
      <vt:lpstr>An Unsupervised Analysis of the Sleep Health and Lifestyle Dataset</vt:lpstr>
      <vt:lpstr>Does the data organise itself into groups, without ever seeing the diagnosis?</vt:lpstr>
      <vt:lpstr>From a messy synthetic table to 21 clean features</vt:lpstr>
      <vt:lpstr>Ten configurations, judged on what they agree and disagree about </vt:lpstr>
      <vt:lpstr>A non trivial result: the diagnostic classes overlap</vt:lpstr>
      <vt:lpstr>Choosing Ward on PCA: the highest external score isn't the winner </vt:lpstr>
      <vt:lpstr>Bayesian Network: A physiological chain emerges </vt:lpstr>
      <vt:lpstr>The Markov blanket alone doesn't tell the whole story </vt:lpstr>
      <vt:lpstr>Bayesian Network: how much of this structure is Hill Climbing's own artefact?</vt:lpstr>
      <vt:lpstr>Conclusions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a.iseni@campus.unimib.it</dc:creator>
  <cp:lastModifiedBy>a.iseni@campus.unimib.it</cp:lastModifiedBy>
  <cp:revision>1</cp:revision>
  <dcterms:created xsi:type="dcterms:W3CDTF">2026-08-19T05:42:48Z</dcterms:created>
  <dcterms:modified xsi:type="dcterms:W3CDTF">2026-09-23T04:46:10Z</dcterms:modified>
</cp:coreProperties>
</file>